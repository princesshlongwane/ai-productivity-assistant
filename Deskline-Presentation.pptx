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6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463040"/>
            <a:ext cx="128016" cy="420624"/>
          </a:xfrm>
          <a:prstGeom prst="rect">
            <a:avLst/>
          </a:prstGeom>
          <a:solidFill>
            <a:srgbClr val="3DDC9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029968"/>
            <a:ext cx="128016" cy="420624"/>
          </a:xfrm>
          <a:prstGeom prst="rect">
            <a:avLst/>
          </a:prstGeom>
          <a:solidFill>
            <a:srgbClr val="5FB0E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596896"/>
            <a:ext cx="128016" cy="420624"/>
          </a:xfrm>
          <a:prstGeom prst="rect">
            <a:avLst/>
          </a:prstGeom>
          <a:solidFill>
            <a:srgbClr val="F2B441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3163824"/>
            <a:ext cx="128016" cy="420624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3730752"/>
            <a:ext cx="128016" cy="420624"/>
          </a:xfrm>
          <a:prstGeom prst="rect">
            <a:avLst/>
          </a:prstGeom>
          <a:solidFill>
            <a:srgbClr val="E8735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CAPACITI AI SKILLS PROGRAM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82880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Deskline</a:t>
            </a:r>
            <a:endParaRPr lang="en-US" sz="6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0632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Workplace Productivity Assistant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7033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F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purpose-built AI modules for everyday workplace tasks — designed and built with deliberate prompt engineering, not a single generic chatbot.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989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Princess Nomcebo Hlongwane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62819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Skills Accelerator Programme · Project Submission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6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Everyday admin quietly eats the workday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emails, summarizing meetings, planning tasks, and researching answers are essential — but repetitive and time-consuming. Most workers reach for AI tools informally, one prompt at a time, with no consistent structure.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83464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7F8FA"/>
          </a:solidFill>
          <a:ln w="12700">
            <a:solidFill>
              <a:srgbClr val="E5E8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31546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3DDC9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16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8404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6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Repetitive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2062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5 task types recur daily across almost every role.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80560" y="283464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7F8FA"/>
          </a:solidFill>
          <a:ln w="12700">
            <a:solidFill>
              <a:srgbClr val="E5E8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31546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5FB0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5488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16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38404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6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Unstructured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42062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Ad-hoc prompting gives inconsistent, hard-to-reuse results.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321040" y="283464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7F8FA"/>
          </a:solidFill>
          <a:ln w="12700">
            <a:solidFill>
              <a:srgbClr val="E5E8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95360" y="31546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2B44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59536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16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595360" y="38404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6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Time-costly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595360" y="42062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lost per task compound into hours lost per week.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DESKLINE  ·  CAPACITI AI SKILLS PROGRAM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6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assistant, five purpose-built modules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 has its own tailored prompt and interface — instead of one chatbot expected to guess what's needed.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084832" cy="3566160"/>
          </a:xfrm>
          <a:prstGeom prst="roundRect">
            <a:avLst>
              <a:gd name="adj" fmla="val 3509"/>
            </a:avLst>
          </a:prstGeom>
          <a:solidFill>
            <a:srgbClr val="1B212B"/>
          </a:solidFill>
          <a:ln w="12700">
            <a:solidFill>
              <a:srgbClr val="2C35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4231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3DDC9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6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3063240"/>
            <a:ext cx="16824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Drafting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3840480"/>
            <a:ext cx="16824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F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 purpose + bullet points into a ready-to-send, tone-matched email.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26080" y="2148840"/>
            <a:ext cx="2084832" cy="3566160"/>
          </a:xfrm>
          <a:prstGeom prst="roundRect">
            <a:avLst>
              <a:gd name="adj" fmla="val 3509"/>
            </a:avLst>
          </a:prstGeom>
          <a:solidFill>
            <a:srgbClr val="1B212B"/>
          </a:solidFill>
          <a:ln w="12700">
            <a:solidFill>
              <a:srgbClr val="2C35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54680" y="24231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5FB0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15468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6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127248" y="3063240"/>
            <a:ext cx="16824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Summarization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3127248" y="3840480"/>
            <a:ext cx="16824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F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raw notes or transcripts into an overview, decisions, and action items.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212080" y="2148840"/>
            <a:ext cx="2084832" cy="3566160"/>
          </a:xfrm>
          <a:prstGeom prst="roundRect">
            <a:avLst>
              <a:gd name="adj" fmla="val 3509"/>
            </a:avLst>
          </a:prstGeom>
          <a:solidFill>
            <a:srgbClr val="1B212B"/>
          </a:solidFill>
          <a:ln w="12700">
            <a:solidFill>
              <a:srgbClr val="2C35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40680" y="24231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2B44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4068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6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13248" y="3063240"/>
            <a:ext cx="16824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Planner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5413248" y="3840480"/>
            <a:ext cx="16824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F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a goal or workload into a prioritized, realistic checklist.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498080" y="2148840"/>
            <a:ext cx="2084832" cy="3566160"/>
          </a:xfrm>
          <a:prstGeom prst="roundRect">
            <a:avLst>
              <a:gd name="adj" fmla="val 3509"/>
            </a:avLst>
          </a:prstGeom>
          <a:solidFill>
            <a:srgbClr val="1B212B"/>
          </a:solidFill>
          <a:ln w="12700">
            <a:solidFill>
              <a:srgbClr val="2C354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26680" y="24231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A78BF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2668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6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699248" y="3063240"/>
            <a:ext cx="16824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Assistance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7699248" y="3840480"/>
            <a:ext cx="16824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F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 concise, structured briefing on a work-related question.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784080" y="2148840"/>
            <a:ext cx="2084832" cy="3566160"/>
          </a:xfrm>
          <a:prstGeom prst="roundRect">
            <a:avLst>
              <a:gd name="adj" fmla="val 3509"/>
            </a:avLst>
          </a:prstGeom>
          <a:solidFill>
            <a:srgbClr val="1B212B"/>
          </a:solidFill>
          <a:ln w="12700">
            <a:solidFill>
              <a:srgbClr val="2C354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012680" y="24231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8735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001268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6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985248" y="3063240"/>
            <a:ext cx="16824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 Chat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9985248" y="3840480"/>
            <a:ext cx="16824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F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Open-ended chat for anything the other modules don't cover.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DESKLINE  ·  CAPACITI AI SKILLS PROGRAM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6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input to usable output in one request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F7F8FA"/>
          </a:solidFill>
          <a:ln w="12700">
            <a:solidFill>
              <a:srgbClr val="E5E8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359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0175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6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input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520440"/>
            <a:ext cx="2057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fields (recipient, tone, notes) capture complete context — not one vague paragraph.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3136392" y="352044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F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410712" y="210312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F7F8FA"/>
          </a:solidFill>
          <a:ln w="12700">
            <a:solidFill>
              <a:srgbClr val="E5E8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39312" y="2359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FB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639312" y="30175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6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prompt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3639312" y="3520440"/>
            <a:ext cx="2057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role + output format instruction, unique to that module, keeps behaviour consistent.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907024" y="352044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F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181344" y="210312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F7F8FA"/>
          </a:solidFill>
          <a:ln w="12700">
            <a:solidFill>
              <a:srgbClr val="E5E8E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9944" y="2359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409944" y="30175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6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model call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6409944" y="3520440"/>
            <a:ext cx="2057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generates a response shaped by both prompts together.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677656" y="352044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F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951976" y="210312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F7F8FA"/>
          </a:solidFill>
          <a:ln w="12700">
            <a:solidFill>
              <a:srgbClr val="E5E8E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80576" y="2359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9180576" y="30175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6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output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9180576" y="3520440"/>
            <a:ext cx="2057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renders directly into the module — ready to copy, send, or act on.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DESKLINE  ·  CAPACITI AI SKILLS PROGRAM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6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in the prompt produces structure in the output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DDC9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234440" y="18470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assignment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4434840" y="18470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F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system prompt opens by naming the assistant's role — e.g. “you are a workplace communication assistant.”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71576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5FB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34440" y="268833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output format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4434840" y="268833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F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prompt states the exact structure expected: subject + body, or named summary sections.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55701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2B44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234440" y="352958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Labelled inputs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4434840" y="352958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F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prompts are built from form fields, not free text — so the model always gets complete context.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39826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34440" y="437083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constraints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4434840" y="437083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F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state what NOT to do, keeping responses clean and directly usable.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23951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8735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234440" y="5212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Graceful defaults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4434840" y="52120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F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fields fall back to sensible instructions, so modules still work with minimal input.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DESKLINE  ·  CAPACITI AI SKILLS PROGRAM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SPOTLIGHT · 01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6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Drafting, from bullet points to a ready email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984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recipient, tone, purpose, and a few key points become a complete, sendable email.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4892040" cy="4160520"/>
          </a:xfrm>
          <a:prstGeom prst="roundRect">
            <a:avLst>
              <a:gd name="adj" fmla="val 1758"/>
            </a:avLst>
          </a:prstGeom>
          <a:solidFill>
            <a:srgbClr val="F7F8FA"/>
          </a:solidFill>
          <a:ln w="12700">
            <a:solidFill>
              <a:srgbClr val="E5E8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194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606040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14400" y="2862072"/>
            <a:ext cx="43434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8DC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24128" y="2862072"/>
            <a:ext cx="4123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2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two days of leave next week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374136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14400" y="3630168"/>
            <a:ext cx="43434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8DC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24128" y="3630168"/>
            <a:ext cx="4123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2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142232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14400" y="4398264"/>
            <a:ext cx="434340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DC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24128" y="4398264"/>
            <a:ext cx="4123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2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matter · back Thursday · will hand over tasks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669280" y="377190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6355080" y="1965960"/>
            <a:ext cx="5166360" cy="4160520"/>
          </a:xfrm>
          <a:prstGeom prst="roundRect">
            <a:avLst>
              <a:gd name="adj" fmla="val 1758"/>
            </a:avLst>
          </a:prstGeom>
          <a:solidFill>
            <a:srgbClr val="12161D"/>
          </a:solidFill>
          <a:ln/>
        </p:spPr>
      </p:sp>
      <p:sp>
        <p:nvSpPr>
          <p:cNvPr id="18" name="Shape 16"/>
          <p:cNvSpPr/>
          <p:nvPr/>
        </p:nvSpPr>
        <p:spPr>
          <a:xfrm>
            <a:off x="6629400" y="2240280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3DDC9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976872" y="2185416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EMAIL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629400" y="2743200"/>
            <a:ext cx="46177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Leave Request — [Dates]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 [Manager],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I'd like to request two days of leave next week to attend to a family matter. I'll be back in the office on Thursday and will hand over my open tasks before I go.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let me know if you need anything from me to approve this.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you,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DESKLINE  ·  CAPACITI AI SKILLS PROGRAM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B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SPOTLIGHT · 02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6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Summarization, notes to next steps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984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Raw, unordered notes become an overview, decisions made, and clear action items.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4892040" cy="4160520"/>
          </a:xfrm>
          <a:prstGeom prst="roundRect">
            <a:avLst>
              <a:gd name="adj" fmla="val 1758"/>
            </a:avLst>
          </a:prstGeom>
          <a:solidFill>
            <a:srgbClr val="F7F8FA"/>
          </a:solidFill>
          <a:ln w="12700">
            <a:solidFill>
              <a:srgbClr val="E5E8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194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606040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PASTED NOTES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14400" y="2862072"/>
            <a:ext cx="4343400" cy="15544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8DC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24128" y="2862072"/>
            <a:ext cx="41239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2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Discussed Q3 budget, marketing wants +10%, ops flagged...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669280" y="377190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FB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6355080" y="1965960"/>
            <a:ext cx="5166360" cy="4160520"/>
          </a:xfrm>
          <a:prstGeom prst="roundRect">
            <a:avLst>
              <a:gd name="adj" fmla="val 1758"/>
            </a:avLst>
          </a:prstGeom>
          <a:solidFill>
            <a:srgbClr val="12161D"/>
          </a:solidFill>
          <a:ln/>
        </p:spPr>
      </p:sp>
      <p:sp>
        <p:nvSpPr>
          <p:cNvPr id="12" name="Shape 10"/>
          <p:cNvSpPr/>
          <p:nvPr/>
        </p:nvSpPr>
        <p:spPr>
          <a:xfrm>
            <a:off x="6629400" y="2240280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5FB0E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976872" y="2185416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SUMMARY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2743200"/>
            <a:ext cx="46177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Overview: Team reviewed the Q3 budget request from marketing.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Decisions: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Marketing's 10% increase approved pending finance sign-off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items: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Sarah — send finance sign-off request (Fri)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Ops — flag capacity risk in writing (unassigned date)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DESKLINE  ·  CAPACITI AI SKILLS PROGRAM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6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USE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drafting aid, not a decision-maker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1B212B"/>
          </a:solidFill>
          <a:ln w="12700">
            <a:solidFill>
              <a:srgbClr val="2C35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4231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3DDC9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16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10896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review required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70332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F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email, summary, and plan Deskline produces is meant to be checked and edited by a person before it's sent or acted 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80560" y="210312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1B212B"/>
          </a:solidFill>
          <a:ln w="12700">
            <a:solidFill>
              <a:srgbClr val="2C35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24231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5FB0E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5488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16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310896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by design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370332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F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doesn't store or transmit data beyond the single request needed to generate each response.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321040" y="210312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1B212B"/>
          </a:solidFill>
          <a:ln w="12700">
            <a:solidFill>
              <a:srgbClr val="2C35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95360" y="24231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2B44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9536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16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595360" y="310896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sensitive data prompts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595360" y="370332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F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are guided to avoid pasting confidential company or personal information into any module.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DESKLINE  ·  CAPACITI AI SKILLS PROGRAM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6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377440"/>
            <a:ext cx="128016" cy="420624"/>
          </a:xfrm>
          <a:prstGeom prst="rect">
            <a:avLst/>
          </a:prstGeom>
          <a:solidFill>
            <a:srgbClr val="3DDC9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944368"/>
            <a:ext cx="128016" cy="420624"/>
          </a:xfrm>
          <a:prstGeom prst="rect">
            <a:avLst/>
          </a:prstGeom>
          <a:solidFill>
            <a:srgbClr val="5FB0E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511296"/>
            <a:ext cx="128016" cy="420624"/>
          </a:xfrm>
          <a:prstGeom prst="rect">
            <a:avLst/>
          </a:prstGeom>
          <a:solidFill>
            <a:srgbClr val="F2B441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078224"/>
            <a:ext cx="128016" cy="420624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645152"/>
            <a:ext cx="128016" cy="420624"/>
          </a:xfrm>
          <a:prstGeom prst="rect">
            <a:avLst/>
          </a:prstGeom>
          <a:solidFill>
            <a:srgbClr val="E8735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1945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004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F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Deskline is live on GitHub — code, README, and full prompt engineering documentation included.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3977640"/>
            <a:ext cx="5669280" cy="566928"/>
          </a:xfrm>
          <a:prstGeom prst="roundRect">
            <a:avLst>
              <a:gd name="adj" fmla="val 50000"/>
            </a:avLst>
          </a:prstGeom>
          <a:solidFill>
            <a:srgbClr val="1B212B"/>
          </a:solidFill>
          <a:ln w="12700">
            <a:solidFill>
              <a:srgbClr val="2C354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977640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  ›  AI-Productivity-Assistant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989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Princess Nomcebo Hlongwane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62819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CAPACITI AI Skills Program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2026-08-26T12:44:53Z</dcterms:created>
  <dcterms:modified xsi:type="dcterms:W3CDTF">2026-08-26T12:44:53Z</dcterms:modified>
</cp:coreProperties>
</file>